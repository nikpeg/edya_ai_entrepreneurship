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SmartProcure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AI-платформа для автоматизации закупок</a:t>
            </a:r>
          </a:p>
          <a:p>
            <a:r>
              <a:t>Пеганов Никита, Ширшов Константин</a:t>
            </a:r>
          </a:p>
          <a:p>
            <a:r>
              <a:t>11.2025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КОМАНДА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Пеганов Никита</a:t>
            </a:r>
          </a:p>
          <a:p>
            <a:pPr lvl="1"/>
            <a:r>
              <a:t>Product Manager, Бизнес-аналитик</a:t>
            </a:r>
          </a:p>
          <a:p>
            <a:pPr>
              <a:defRPr b="1"/>
            </a:pPr>
            <a:r>
              <a:t>Ширшов Константин</a:t>
            </a:r>
          </a:p>
          <a:p>
            <a:pPr lvl="1"/>
            <a:r>
              <a:t>Technical Lead, AI-разработчик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ИДЕЯ ПРОДУКТА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/>
            </a:pPr>
            <a:r>
              <a:t>ИДЕЯ 1: SmartProcure AI - AI-агент для закупок</a:t>
            </a:r>
          </a:p>
          <a:p/>
          <a:p>
            <a:pPr>
              <a:defRPr sz="1200"/>
            </a:pPr>
            <a:r>
              <a:t>Отделы закупок в ритейле и производстве часто сталкиваются с потерей 40-60 часов в неделю на рутинные операции: сравнение предложений от десятков поставщиков, отслеживание поставок и переговоры.</a:t>
            </a:r>
          </a:p>
          <a:p>
            <a:pPr>
              <a:defRPr sz="1200"/>
            </a:pPr>
            <a:r>
              <a:t>Наш SmartProcure AI решает это за счёт автономного AI-агента, который сам собирает предложения, анализирует условия по 15+ параметрам и предупреждает о рисках задержек.</a:t>
            </a:r>
          </a:p>
          <a:p>
            <a:pPr>
              <a:defRPr sz="1200"/>
            </a:pPr>
            <a:r>
              <a:t>В отличие от традиционных procurement систем (SAP Ariba, Oracle), которые только хранят данные, мы используем Agentic AI для активных действий - система самостоятельно планирует и выполняет задачи, что даёт экономию 50% времени отдела закупок и снижение затрат на 10-15%.</a:t>
            </a:r>
          </a:p>
          <a:p/>
          <a:p>
            <a:pPr>
              <a:defRPr b="1" sz="1100"/>
            </a:pPr>
            <a:r>
              <a:t>Источники:</a:t>
            </a:r>
          </a:p>
          <a:p>
            <a:pPr lvl="1">
              <a:defRPr sz="900"/>
            </a:pPr>
            <a:r>
              <a:t>Stanford AI Index 2025: Agentic AI Systems</a:t>
            </a:r>
          </a:p>
          <a:p>
            <a:pPr lvl="1">
              <a:defRPr sz="900"/>
            </a:pPr>
            <a:r>
              <a:t>McKinsey: AI in Procurement - 40% cost reduction potential</a:t>
            </a:r>
          </a:p>
          <a:p>
            <a:pPr lvl="1">
              <a:defRPr sz="900"/>
            </a:pPr>
            <a:r>
              <a:t>Gartner: Autonomous Supply Chain Management Trend 2025</a:t>
            </a:r>
          </a:p>
          <a:p>
            <a:pPr lvl="1">
              <a:defRPr sz="900"/>
            </a:pPr>
            <a:r>
              <a:t>Кейс Альфа-Банк: внедрение DeepSeek R1 для аналитики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ИДЕЯ ПРОДУКТА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/>
            </a:pPr>
            <a:r>
              <a:t>ИДЕЯ 2: MarketingAI Pro - AI для автоматизации маркетинга</a:t>
            </a:r>
          </a:p>
          <a:p/>
          <a:p>
            <a:pPr>
              <a:defRPr sz="1200"/>
            </a:pPr>
            <a:r>
              <a:t>Маркетологи e-commerce компаний часто сталкиваются с необходимостью тратить недели на анализ эффективности кампаний в 5+ каналах и создание десятков вариантов креативов для A/B тестов.</a:t>
            </a:r>
          </a:p>
          <a:p>
            <a:pPr>
              <a:defRPr sz="1200"/>
            </a:pPr>
            <a:r>
              <a:t>Наш MarketingAI Pro решает это за счёт Multimodal AI, который автоматически генерирует креативы (тексты + изображения) и Agentic AI, который самостоятельно проводит A/B тесты и оптимизирует кампании.</a:t>
            </a:r>
          </a:p>
          <a:p>
            <a:pPr>
              <a:defRPr sz="1200"/>
            </a:pPr>
            <a:r>
              <a:t>В отличие от простых инструментов аналитики (Google Analytics, Яндекс.Метрика), которые только показывают цифры, мы не просто анализируем, но и делаем действия - создаем варианты, тестируем и оптимизируем, что даёт рост конверсии на 25-40% и экономию 50 часов маркетолога в месяц.</a:t>
            </a:r>
          </a:p>
          <a:p/>
          <a:p>
            <a:pPr>
              <a:defRPr b="1" sz="1100"/>
            </a:pPr>
            <a:r>
              <a:t>Источники:</a:t>
            </a:r>
          </a:p>
          <a:p>
            <a:pPr lvl="1">
              <a:defRPr sz="900"/>
            </a:pPr>
            <a:r>
              <a:t>Stanford AI Index 2025: Multimodal AI breakthrough</a:t>
            </a:r>
          </a:p>
          <a:p>
            <a:pPr lvl="1">
              <a:defRPr sz="900"/>
            </a:pPr>
            <a:r>
              <a:t>HubSpot: State of Marketing AI 2025</a:t>
            </a:r>
          </a:p>
          <a:p>
            <a:pPr lvl="1">
              <a:defRPr sz="900"/>
            </a:pPr>
            <a:r>
              <a:t>MTS AI: Cotype VL для мультимодальной генерации</a:t>
            </a:r>
          </a:p>
          <a:p>
            <a:pPr lvl="1">
              <a:defRPr sz="900"/>
            </a:pPr>
            <a:r>
              <a:t>Gartner: AI in Marketing Automation Market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LEAN CANVAS. ICP - ГИПОТЕЗА ПРОФИЛЯ КЛИЕНТА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Сегмент: B2B компании с активными закупками</a:t>
            </a:r>
          </a:p>
          <a:p>
            <a:r>
              <a:t>Размер: Средний и крупный бизнес (100+ сотрудников)</a:t>
            </a:r>
          </a:p>
          <a:p>
            <a:pPr>
              <a:defRPr b="1"/>
            </a:pPr>
            <a:r>
              <a:t>Отрасли:</a:t>
            </a:r>
          </a:p>
          <a:p>
            <a:pPr lvl="1"/>
            <a:r>
              <a:t>Ритейл и FMCG</a:t>
            </a:r>
          </a:p>
          <a:p>
            <a:pPr lvl="1"/>
            <a:r>
              <a:t>Производство и промышленность</a:t>
            </a:r>
          </a:p>
          <a:p>
            <a:pPr lvl="1"/>
            <a:r>
              <a:t>Строительство</a:t>
            </a:r>
          </a:p>
          <a:p>
            <a:pPr lvl="1"/>
            <a:r>
              <a:t>Логистика</a:t>
            </a:r>
          </a:p>
          <a:p>
            <a:pPr>
              <a:defRPr b="1"/>
            </a:pPr>
            <a:r>
              <a:t>Основные боли:</a:t>
            </a:r>
          </a:p>
          <a:p>
            <a:pPr lvl="1"/>
            <a:r>
              <a:t>Закупки занимают 40-60 часов в неделю на отдел</a:t>
            </a:r>
          </a:p>
          <a:p>
            <a:pPr lvl="1"/>
            <a:r>
              <a:t>Сложно сравнивать десятки предложений от поставщиков</a:t>
            </a:r>
          </a:p>
          <a:p>
            <a:pPr lvl="1"/>
            <a:r>
              <a:t>Человеческий фактор: упущенные скидки, выбор не оптимальных поставщиков</a:t>
            </a:r>
          </a:p>
          <a:p>
            <a:pPr>
              <a:defRPr sz="1200"/>
            </a:pPr>
            <a:r>
              <a:t>Лица принимающие решение: Руководитель отдела закупок, Финансовый директор (CFO), Директор по операциям (COO)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LEAN CANVAS. ПРОБЛЕМЫ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Ручное сравнение предложений занимает дни</a:t>
            </a:r>
          </a:p>
          <a:p>
            <a:pPr/>
            <a:r>
              <a:t>Потери из-за неоптимальных решений: переплаты 10-15%</a:t>
            </a:r>
          </a:p>
          <a:p>
            <a:pPr/>
            <a:r>
              <a:t>Задержки поставок из-за плохого мониторинга</a:t>
            </a:r>
          </a:p>
          <a:p>
            <a:pPr/>
            <a:r>
              <a:t>Низкая прозрачность процесса для руководства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LEAN CANVAS. РЕШЕНИЕ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AI-агент автоматически собирает и сравнивает предложения поставщиков</a:t>
            </a:r>
          </a:p>
          <a:p>
            <a:pPr/>
            <a:r>
              <a:t>Система оценивает поставщиков по 15+ параметрам (цена, надежность, сроки)</a:t>
            </a:r>
          </a:p>
          <a:p>
            <a:pPr/>
            <a:r>
              <a:t>Предиктивный мониторинг рисков задержек и дефицита</a:t>
            </a:r>
          </a:p>
          <a:p>
            <a:pPr/>
            <a:r>
              <a:t>Автоматизация рутинной переписки и документооборота</a:t>
            </a:r>
          </a:p>
          <a:p>
            <a:pPr/>
            <a:r>
              <a:t>Дашборды с аналитикой закупок в реальном времени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LEAN CANVAS. УНИКАЛЬНОЕ ЦЕННОСТНОЕ ПРЕДЛОЖЕНИЕ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/>
            </a:pPr>
            <a:r>
              <a:t>Автономный AI-агент экономит 50% времени отдела закупок и снижает затраты на 10-15%</a:t>
            </a:r>
          </a:p>
          <a:p/>
          <a:p>
            <a:pPr/>
            <a:r>
              <a:t>Работает в контуре клиента (On-Premise) - данные не уходят наружу</a:t>
            </a:r>
          </a:p>
          <a:p>
            <a:pPr/>
            <a:r>
              <a:t>Интеграция с 1С, SAP, любыми ERP за 2 недели</a:t>
            </a:r>
          </a:p>
          <a:p>
            <a:pPr/>
            <a:r>
              <a:t>Окупаемость за 4-6 месяцев</a:t>
            </a:r>
          </a:p>
          <a:p>
            <a:pPr/>
            <a:r>
              <a:t>Reasoning модели для сложных решений (не просто автоматизация, а анализ)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LEAN CANVAS. КАНАЛЫ ПРОДАЖ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Прямые продажи (outreach в LinkedIn к руководителям закупок)</a:t>
            </a:r>
          </a:p>
          <a:p>
            <a:pPr/>
            <a:r>
              <a:t>Партнерство с ERP-интеграторами (1С-франчайзи)</a:t>
            </a:r>
          </a:p>
          <a:p>
            <a:pPr/>
            <a:r>
              <a:t>Отраслевые конференции (Retail Tech, Logistics Forum)</a:t>
            </a:r>
          </a:p>
          <a:p>
            <a:pPr/>
            <a:r>
              <a:t>Контент-маркетинг (кейсы, ROI калькулятор на сайте)</a:t>
            </a:r>
          </a:p>
          <a:p>
            <a:pPr/>
            <a:r>
              <a:t>Пилотные проекты с 50% скидкой для первых клиентов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LEAN CANVAS. СТРУКТУРА ДОХОДОВ И РАСХОДОВ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400"/>
            </a:pPr>
            <a:r>
              <a:t>ИСТОЧНИКИ ДОХОДОВ</a:t>
            </a:r>
          </a:p>
          <a:p>
            <a:pPr>
              <a:defRPr sz="1100"/>
            </a:pPr>
            <a:r>
              <a:t>Subscription модель: 50-150K руб/месяц в зависимости от размера компании</a:t>
            </a:r>
          </a:p>
          <a:p>
            <a:pPr>
              <a:defRPr sz="1100"/>
            </a:pPr>
            <a:r>
              <a:t>Плата за внедрение и интеграцию: 300-800K рублей</a:t>
            </a:r>
          </a:p>
          <a:p>
            <a:pPr>
              <a:defRPr sz="1100"/>
            </a:pPr>
            <a:r>
              <a:t>Premium поддержка и консалтинг: 30-50K руб/месяц</a:t>
            </a:r>
          </a:p>
          <a:p>
            <a:pPr>
              <a:defRPr sz="1100"/>
            </a:pPr>
            <a:r>
              <a:t>Дополнительные модули (аналитика, BI): 20-40K руб/месяц</a:t>
            </a:r>
          </a:p>
          <a:p>
            <a:pPr>
              <a:defRPr b="1" sz="1100"/>
            </a:pPr>
            <a:r>
              <a:t>Цель: 10 клиентов в первый год = 10-15M рублей ARR</a:t>
            </a:r>
          </a:p>
          <a:p/>
          <a:p>
            <a:pPr>
              <a:defRPr b="1" sz="1400"/>
            </a:pPr>
            <a:r>
              <a:t>СТРУКТУРА РАСХОДОВ</a:t>
            </a:r>
          </a:p>
          <a:p>
            <a:pPr>
              <a:defRPr sz="1100"/>
            </a:pPr>
            <a:r>
              <a:t>Разработка и поддержка AI-моделей: 40%</a:t>
            </a:r>
          </a:p>
          <a:p>
            <a:pPr>
              <a:defRPr sz="1100"/>
            </a:pPr>
            <a:r>
              <a:t>Команда разработки (5-7 человек): 30%</a:t>
            </a:r>
          </a:p>
          <a:p>
            <a:pPr>
              <a:defRPr sz="1100"/>
            </a:pPr>
            <a:r>
              <a:t>Продажи и маркетинг: 20%</a:t>
            </a:r>
          </a:p>
          <a:p>
            <a:pPr>
              <a:defRPr sz="1100"/>
            </a:pPr>
            <a:r>
              <a:t>Инфраструктура и серверы: 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LEAN CANVAS. КЛЮЧЕВЫЕ МЕТРИКИ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Customer Acquisition Cost (CAC): 150-200K рублей</a:t>
            </a:r>
          </a:p>
          <a:p>
            <a:pPr/>
            <a:r>
              <a:t>Lifetime Value (LTV): 3-5M рублей (контракт на 2-3 года)</a:t>
            </a:r>
          </a:p>
          <a:p>
            <a:pPr/>
            <a:r>
              <a:t>Time to Value: 4 недели (от внедрения до первых результатов)</a:t>
            </a:r>
          </a:p>
          <a:p>
            <a:pPr/>
            <a:r>
              <a:t>Retention Rate: &gt;85% (критичная система)</a:t>
            </a:r>
          </a:p>
          <a:p>
            <a:pPr/>
            <a:r>
              <a:t>Экономия клиента: 10-15% от бюджета закупок</a:t>
            </a:r>
          </a:p>
          <a:p>
            <a:pPr/>
            <a:r>
              <a:t>NPS: &gt;50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LEAN CANVAS. НЕЧЕСТНОЕ ПРЕИМУЩЕСТВО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Партнерство с MTS AI - доступ к SOTA моделям (Cotype, DeepSeek R1)</a:t>
            </a:r>
          </a:p>
          <a:p>
            <a:pPr/>
            <a:r>
              <a:t>База знаний из 50,000+ закупочных кейсов российских компаний</a:t>
            </a:r>
          </a:p>
          <a:p>
            <a:pPr/>
            <a:r>
              <a:t>On-Premise решение - критично для банков и госсектора</a:t>
            </a:r>
          </a:p>
          <a:p>
            <a:pPr/>
            <a:r>
              <a:t>Команда с опытом в procurement и AI (8+ лет)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LEAN CANVAS. СЕГМЕНТЫ КЛИЕНТОВ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Ранние последователи:</a:t>
            </a:r>
          </a:p>
          <a:p>
            <a:pPr lvl="1"/>
            <a:r>
              <a:t>Средние компании в ритейле с высокой частотой закупок (100-500 поставщиков)</a:t>
            </a:r>
          </a:p>
          <a:p/>
          <a:p>
            <a:pPr>
              <a:defRPr b="1"/>
            </a:pPr>
            <a:r>
              <a:t>Сегменты рынка:</a:t>
            </a:r>
          </a:p>
          <a:p>
            <a:pPr/>
            <a:r>
              <a:t>Ритейл: сети магазинов, e-commerce (30% рынка)</a:t>
            </a:r>
          </a:p>
          <a:p>
            <a:pPr/>
            <a:r>
              <a:t>Производство: заводы с регулярными закупками сырья (25%)</a:t>
            </a:r>
          </a:p>
          <a:p>
            <a:pPr/>
            <a:r>
              <a:t>Строительство: подрядчики с множеством субподрядчиков (20%)</a:t>
            </a:r>
          </a:p>
          <a:p>
            <a:pPr/>
            <a:r>
              <a:t>Логистика и дистрибуция (15%)</a:t>
            </a:r>
          </a:p>
          <a:p>
            <a:pPr/>
            <a:r>
              <a:t>Прочие B2B компании (10%)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